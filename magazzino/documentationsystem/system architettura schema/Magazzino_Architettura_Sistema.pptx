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-731520"/>
            <a:ext cx="5029200" cy="5029200"/>
          </a:xfrm>
          <a:prstGeom prst="ellipse">
            <a:avLst/>
          </a:prstGeom>
          <a:solidFill>
            <a:srgbClr val="0077B6">
              <a:alpha val="15000"/>
            </a:srgbClr>
          </a:solidFill>
          <a:ln w="12700">
            <a:solidFill>
              <a:srgbClr val="0077B6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2286000"/>
            <a:ext cx="3200400" cy="32004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40080"/>
            <a:ext cx="2194560" cy="3200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0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ENTERPRISE REST API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Magazzino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8CAE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Sistema di Gestione Inventario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1193292" cy="292608"/>
          </a:xfrm>
          <a:prstGeom prst="rect">
            <a:avLst/>
          </a:prstGeom>
          <a:solidFill>
            <a:srgbClr val="1A2B3C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43200"/>
            <a:ext cx="11932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8CAE4"/>
                </a:solidFill>
              </a:rPr>
              <a:t>Java 21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554480" y="2743200"/>
            <a:ext cx="2244852" cy="292608"/>
          </a:xfrm>
          <a:prstGeom prst="rect">
            <a:avLst/>
          </a:prstGeom>
          <a:solidFill>
            <a:srgbClr val="1A2B3C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2743200"/>
            <a:ext cx="22448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8CAE4"/>
                </a:solidFill>
              </a:rPr>
              <a:t>Spring Boot 4.0.1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20440" y="2743200"/>
            <a:ext cx="1824228" cy="292608"/>
          </a:xfrm>
          <a:prstGeom prst="rect">
            <a:avLst/>
          </a:prstGeom>
          <a:solidFill>
            <a:srgbClr val="1A2B3C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2743200"/>
            <a:ext cx="18242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8CAE4"/>
                </a:solidFill>
              </a:rPr>
              <a:t>Oracle XE 21c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20640" y="2743200"/>
            <a:ext cx="1088136" cy="292608"/>
          </a:xfrm>
          <a:prstGeom prst="rect">
            <a:avLst/>
          </a:prstGeom>
          <a:solidFill>
            <a:srgbClr val="1A2B3C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2743200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8CAE4"/>
                </a:solidFill>
              </a:rPr>
              <a:t>Docker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1828800" cy="1188720"/>
          </a:xfrm>
          <a:prstGeom prst="rect">
            <a:avLst/>
          </a:prstGeom>
          <a:solidFill>
            <a:srgbClr val="1A2B3C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474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</a:rPr>
              <a:t>94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57200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8C0"/>
                </a:solidFill>
              </a:rPr>
              <a:t>File Totali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60320" y="3383280"/>
            <a:ext cx="1828800" cy="1188720"/>
          </a:xfrm>
          <a:prstGeom prst="rect">
            <a:avLst/>
          </a:prstGeom>
          <a:solidFill>
            <a:srgbClr val="1A2B3C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560320" y="3474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</a:rPr>
              <a:t>69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2560320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8C0"/>
                </a:solidFill>
              </a:rPr>
              <a:t>Classi Java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383280"/>
            <a:ext cx="1828800" cy="1188720"/>
          </a:xfrm>
          <a:prstGeom prst="rect">
            <a:avLst/>
          </a:prstGeom>
          <a:solidFill>
            <a:srgbClr val="1A2B3C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63440" y="3474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</a:rPr>
              <a:t>35+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4663440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8C0"/>
                </a:solidFill>
              </a:rPr>
              <a:t>API Endpoints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66560" y="3383280"/>
            <a:ext cx="1828800" cy="1188720"/>
          </a:xfrm>
          <a:prstGeom prst="rect">
            <a:avLst/>
          </a:prstGeom>
          <a:solidFill>
            <a:srgbClr val="1A2B3C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766560" y="3474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</a:rPr>
              <a:t>18+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766560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8C0"/>
                </a:solidFill>
              </a:rPr>
              <a:t>DTOs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Autore: Elia Sollazzo  |  Spindox StageLab  |  Marzo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Stack Tecnologico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CAE4"/>
                </a:solidFill>
              </a:rPr>
              <a:t>Tecnologie e versioni utilizzate nel progetto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43200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54864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☕ Runtime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</a:rPr>
              <a:t>Java JDK 21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18688" y="1051560"/>
            <a:ext cx="2743200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1051560"/>
            <a:ext cx="54864" cy="11155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143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🌿 Framework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55848" y="14630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</a:rPr>
              <a:t>Spring Boot 4.0.1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63056" y="1051560"/>
            <a:ext cx="2743200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63056" y="1051560"/>
            <a:ext cx="54864" cy="11155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0216" y="1143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🔗 ORM / Data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00216" y="14630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</a:rPr>
              <a:t>Spring Data JPA + Hibernate 6.4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2350008"/>
            <a:ext cx="2743200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350008"/>
            <a:ext cx="54864" cy="11155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4414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🔐 Security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27614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</a:rPr>
              <a:t>Spring Security 4.0.1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18688" y="2350008"/>
            <a:ext cx="2743200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A855F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18688" y="2350008"/>
            <a:ext cx="54864" cy="111556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55848" y="24414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</a:rPr>
              <a:t>🗄️ Database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55848" y="27614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</a:rPr>
              <a:t>Oracle XE 21c + JDBC 23.x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63056" y="2350008"/>
            <a:ext cx="2743200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8FA8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63056" y="2350008"/>
            <a:ext cx="54864" cy="1115568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0216" y="24414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FA8C0"/>
                </a:solidFill>
              </a:rPr>
              <a:t>⚡ Utils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0216" y="27614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</a:rPr>
              <a:t>Lombok 1.18.32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4320" y="3648456"/>
            <a:ext cx="2743200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648456"/>
            <a:ext cx="54864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73989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🔨 Build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" y="405993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</a:rPr>
              <a:t>Maven 3.9.x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218688" y="3648456"/>
            <a:ext cx="2743200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0077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18688" y="3648456"/>
            <a:ext cx="54864" cy="111556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55848" y="373989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</a:rPr>
              <a:t>🐳 Container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55848" y="405993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</a:rPr>
              <a:t>Docker + Docker Compose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163056" y="3648456"/>
            <a:ext cx="2743200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63056" y="3648456"/>
            <a:ext cx="54864" cy="11155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0216" y="373989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🧪 Testing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00216" y="405993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</a:rPr>
              <a:t>JUnit 5 (5.10.x)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Architettura Layered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CAE4"/>
                </a:solidFill>
              </a:rPr>
              <a:t>Pattern: Controller → Service → Repository → Database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1005840"/>
            <a:ext cx="6400800" cy="384048"/>
          </a:xfrm>
          <a:prstGeom prst="rect">
            <a:avLst/>
          </a:prstGeom>
          <a:solidFill>
            <a:srgbClr val="48CAE4">
              <a:alpha val="30000"/>
            </a:srgbClr>
          </a:solidFill>
          <a:ln w="19050">
            <a:solidFill>
              <a:srgbClr val="48CA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0058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🌐  HTTP REQUEST (JSON)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34840" y="1389888"/>
            <a:ext cx="274320" cy="109728"/>
          </a:xfrm>
          <a:prstGeom prst="rect">
            <a:avLst/>
          </a:prstGeom>
          <a:solidFill>
            <a:srgbClr val="8FA8C0">
              <a:alpha val="70000"/>
            </a:srgbClr>
          </a:solidFill>
          <a:ln w="12700">
            <a:solidFill>
              <a:srgbClr val="8FA8C0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1463040"/>
            <a:ext cx="6400800" cy="384048"/>
          </a:xfrm>
          <a:prstGeom prst="rect">
            <a:avLst/>
          </a:prstGeom>
          <a:solidFill>
            <a:srgbClr val="00B4D8">
              <a:alpha val="85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4630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🎯  CONTROLLERS  (6 Files — HTTP Layer)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1847088"/>
            <a:ext cx="274320" cy="109728"/>
          </a:xfrm>
          <a:prstGeom prst="rect">
            <a:avLst/>
          </a:prstGeom>
          <a:solidFill>
            <a:srgbClr val="8FA8C0">
              <a:alpha val="70000"/>
            </a:srgbClr>
          </a:solidFill>
          <a:ln w="12700">
            <a:solidFill>
              <a:srgbClr val="8FA8C0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1920240"/>
            <a:ext cx="6400800" cy="384048"/>
          </a:xfrm>
          <a:prstGeom prst="rect">
            <a:avLst/>
          </a:prstGeom>
          <a:solidFill>
            <a:srgbClr val="22C55E">
              <a:alpha val="85000"/>
            </a:srgbClr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19202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⚙️  SERVICES  (12 Files — Business Logic + @Transactional)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34840" y="2304288"/>
            <a:ext cx="274320" cy="109728"/>
          </a:xfrm>
          <a:prstGeom prst="rect">
            <a:avLst/>
          </a:prstGeom>
          <a:solidFill>
            <a:srgbClr val="8FA8C0">
              <a:alpha val="70000"/>
            </a:srgbClr>
          </a:solidFill>
          <a:ln w="12700">
            <a:solidFill>
              <a:srgbClr val="8FA8C0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2377440"/>
            <a:ext cx="6400800" cy="384048"/>
          </a:xfrm>
          <a:prstGeom prst="rect">
            <a:avLst/>
          </a:prstGeom>
          <a:solidFill>
            <a:srgbClr val="F59E0B">
              <a:alpha val="85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2377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🗄️  REPOSITORIES  (6 Files — Spring Data JPA)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34840" y="2761488"/>
            <a:ext cx="274320" cy="109728"/>
          </a:xfrm>
          <a:prstGeom prst="rect">
            <a:avLst/>
          </a:prstGeom>
          <a:solidFill>
            <a:srgbClr val="8FA8C0">
              <a:alpha val="70000"/>
            </a:srgbClr>
          </a:solidFill>
          <a:ln w="12700">
            <a:solidFill>
              <a:srgbClr val="8FA8C0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0" y="2834640"/>
            <a:ext cx="6400800" cy="384048"/>
          </a:xfrm>
          <a:prstGeom prst="rect">
            <a:avLst/>
          </a:prstGeom>
          <a:solidFill>
            <a:srgbClr val="A855F7">
              <a:alpha val="85000"/>
            </a:srgbClr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28346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💾  DATABASE  (Oracle XE 21c — T_PRODOTTI, T_MAGAZZINI, T_FATTURE...)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434840" y="3218688"/>
            <a:ext cx="274320" cy="109728"/>
          </a:xfrm>
          <a:prstGeom prst="rect">
            <a:avLst/>
          </a:prstGeom>
          <a:solidFill>
            <a:srgbClr val="8FA8C0">
              <a:alpha val="70000"/>
            </a:srgbClr>
          </a:solidFill>
          <a:ln w="12700">
            <a:solidFill>
              <a:srgbClr val="8FA8C0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71600" y="3291840"/>
            <a:ext cx="6400800" cy="384048"/>
          </a:xfrm>
          <a:prstGeom prst="rect">
            <a:avLst/>
          </a:prstGeom>
          <a:solidFill>
            <a:srgbClr val="EF4444">
              <a:alpha val="85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32918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🔄  DTOs / MAPPERS  (18+ DTOs, 12 Mappers — Entity ↔ DTO)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434840" y="3675888"/>
            <a:ext cx="274320" cy="109728"/>
          </a:xfrm>
          <a:prstGeom prst="rect">
            <a:avLst/>
          </a:prstGeom>
          <a:solidFill>
            <a:srgbClr val="8FA8C0">
              <a:alpha val="70000"/>
            </a:srgbClr>
          </a:solidFill>
          <a:ln w="12700">
            <a:solidFill>
              <a:srgbClr val="8FA8C0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0" y="3749040"/>
            <a:ext cx="6400800" cy="384048"/>
          </a:xfrm>
          <a:prstGeom prst="rect">
            <a:avLst/>
          </a:prstGeom>
          <a:solidFill>
            <a:srgbClr val="48CAE4">
              <a:alpha val="30000"/>
            </a:srgbClr>
          </a:solidFill>
          <a:ln w="19050">
            <a:solidFill>
              <a:srgbClr val="48CA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1600" y="37490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📤  HTTP RESPONSE (JSON)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Componenti del Progetto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CAE4"/>
                </a:solidFill>
              </a:rPr>
              <a:t>Distribuzione dei 69 file Java per categoria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20116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05840"/>
            <a:ext cx="2011680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005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Controllers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" y="1481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</a:rPr>
              <a:t>6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" y="199339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HomeController, Prodotto, Magazzino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Fattura, FatturaWorkExecution, Job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95728" y="1005840"/>
            <a:ext cx="20116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95728" y="1005840"/>
            <a:ext cx="2011680" cy="4754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95728" y="1005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Services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95728" y="1481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</a:rPr>
              <a:t>12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487168" y="199339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6 Interfacce + 6 Implementazioni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Business Logic + @Transactional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08576" y="1005840"/>
            <a:ext cx="20116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08576" y="1005840"/>
            <a:ext cx="201168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08576" y="1005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Repositories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08576" y="1481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6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700016" y="199339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Spring Data JPA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Query derivate + @Query JPQL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21424" y="1005840"/>
            <a:ext cx="20116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A855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21424" y="1005840"/>
            <a:ext cx="2011680" cy="47548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21424" y="1005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Entities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21424" y="1481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855F7"/>
                </a:solidFill>
              </a:rPr>
              <a:t>6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912864" y="199339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Prodotto, Magazzino, Fattura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ProdottoMagazzino, JobExecution, FatturaWork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82880" y="2926080"/>
            <a:ext cx="20116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82880" y="2926080"/>
            <a:ext cx="2011680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" y="2926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Enums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8288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</a:rPr>
              <a:t>7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274320" y="391363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SXFatturaStatus, StockStatus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StatusJob, ScortaMinPMStatus...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395728" y="2926080"/>
            <a:ext cx="20116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7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395728" y="2926080"/>
            <a:ext cx="2011680" cy="47548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95728" y="2926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Mappers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395728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7B6"/>
                </a:solidFill>
              </a:rPr>
              <a:t>12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2487168" y="391363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6 Interfacce + 6 Implementazioni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Entity ↔ DTO Conversion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08576" y="2926080"/>
            <a:ext cx="20116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48CA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08576" y="2926080"/>
            <a:ext cx="2011680" cy="475488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08576" y="2926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DTOs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608576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8CAE4"/>
                </a:solidFill>
              </a:rPr>
              <a:t>18+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4700016" y="391363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Request / Response / SearchRequest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Organizzati per dominio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821424" y="2926080"/>
            <a:ext cx="20116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21424" y="2926080"/>
            <a:ext cx="201168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21424" y="2926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Scheduled Jobs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821424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2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6912864" y="391363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InventoryScheduler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FatturaScheduler (@Scheduled)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API Endpoints — 35+ REST Endpoints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CAE4"/>
                </a:solidFill>
              </a:rPr>
              <a:t>Base URL: http://localhost:8080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2743200" cy="1828800"/>
          </a:xfrm>
          <a:prstGeom prst="rect">
            <a:avLst/>
          </a:prstGeom>
          <a:solidFill>
            <a:srgbClr val="1A2B3C"/>
          </a:solidFill>
          <a:ln w="19050">
            <a:solidFill>
              <a:srgbClr val="8FA8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914400"/>
            <a:ext cx="2743200" cy="384048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960120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🏠 HomeController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4320" y="1353312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8CAE4"/>
                </a:solidFill>
              </a:rPr>
              <a:t>GET /home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8CAE4"/>
                </a:solidFill>
              </a:rPr>
              <a:t>GET /home/health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8CAE4"/>
                </a:solidFill>
              </a:rPr>
              <a:t>GET /home/info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54680" y="914400"/>
            <a:ext cx="2743200" cy="1828800"/>
          </a:xfrm>
          <a:prstGeom prst="rect">
            <a:avLst/>
          </a:prstGeom>
          <a:solidFill>
            <a:srgbClr val="1A2B3C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54680" y="914400"/>
            <a:ext cx="274320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27832" y="960120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📦 ProdottoController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46120" y="1353312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8CAE4"/>
                </a:solidFill>
              </a:rPr>
              <a:t>GET /prodotti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8CAE4"/>
                </a:solidFill>
              </a:rPr>
              <a:t>GET /prodotti/list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8CAE4"/>
                </a:solidFill>
              </a:rPr>
              <a:t>GET /{id}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8CAE4"/>
                </a:solidFill>
              </a:rPr>
              <a:t>POST /prodotti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8CAE4"/>
                </a:solidFill>
              </a:rPr>
              <a:t>PUT /{id}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8CAE4"/>
                </a:solidFill>
              </a:rPr>
              <a:t>DELETE /{id}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8CAE4"/>
                </a:solidFill>
              </a:rPr>
              <a:t>POST /search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914400"/>
            <a:ext cx="2743200" cy="1828800"/>
          </a:xfrm>
          <a:prstGeom prst="rect">
            <a:avLst/>
          </a:prstGeom>
          <a:solidFill>
            <a:srgbClr val="1A2B3C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914400"/>
            <a:ext cx="274320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960120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🏢 MagazzinoController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17920" y="1353312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8CAE4"/>
                </a:solidFill>
              </a:rPr>
              <a:t>GET /magazzino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8CAE4"/>
                </a:solidFill>
              </a:rPr>
              <a:t>GET /list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8CAE4"/>
                </a:solidFill>
              </a:rPr>
              <a:t>GET /{id}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8CAE4"/>
                </a:solidFill>
              </a:rPr>
              <a:t>POST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8CAE4"/>
                </a:solidFill>
              </a:rPr>
              <a:t>PATCH /{id}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8CAE4"/>
                </a:solidFill>
              </a:rPr>
              <a:t>DELETE /{id}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8CAE4"/>
                </a:solidFill>
              </a:rPr>
              <a:t>POST /search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2880" y="2944368"/>
            <a:ext cx="2743200" cy="1828800"/>
          </a:xfrm>
          <a:prstGeom prst="rect">
            <a:avLst/>
          </a:prstGeom>
          <a:solidFill>
            <a:srgbClr val="1A2B3C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" y="2944368"/>
            <a:ext cx="274320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99008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📄 FatturaController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4320" y="3383280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8CAE4"/>
                </a:solidFill>
              </a:rPr>
              <a:t>GET /fatture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8CAE4"/>
                </a:solidFill>
              </a:rPr>
              <a:t>GET /list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8CAE4"/>
                </a:solidFill>
              </a:rPr>
              <a:t>GET /{id}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8CAE4"/>
                </a:solidFill>
              </a:rPr>
              <a:t>POST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8CAE4"/>
                </a:solidFill>
              </a:rPr>
              <a:t>PUT /{id}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8CAE4"/>
                </a:solidFill>
              </a:rPr>
              <a:t>DELETE /{id}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8CAE4"/>
                </a:solidFill>
              </a:rPr>
              <a:t>POST /search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54680" y="2944368"/>
            <a:ext cx="2743200" cy="1828800"/>
          </a:xfrm>
          <a:prstGeom prst="rect">
            <a:avLst/>
          </a:prstGeom>
          <a:solidFill>
            <a:srgbClr val="1A2B3C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54680" y="2944368"/>
            <a:ext cx="2743200" cy="38404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27832" y="299008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💳 FatturaWorkExecution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46120" y="3383280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8CAE4"/>
                </a:solidFill>
              </a:rPr>
              <a:t>GET /work/list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8CAE4"/>
                </a:solidFill>
              </a:rPr>
              <a:t>GET /{id}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8CAE4"/>
                </a:solidFill>
              </a:rPr>
              <a:t>POST /work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8CAE4"/>
                </a:solidFill>
              </a:rPr>
              <a:t>PUT /{id}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8CAE4"/>
                </a:solidFill>
              </a:rPr>
              <a:t>DELETE /{id}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8CAE4"/>
                </a:solidFill>
              </a:rPr>
              <a:t>POST /search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2944368"/>
            <a:ext cx="2743200" cy="1828800"/>
          </a:xfrm>
          <a:prstGeom prst="rect">
            <a:avLst/>
          </a:prstGeom>
          <a:solidFill>
            <a:srgbClr val="1A2B3C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2944368"/>
            <a:ext cx="274320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9632" y="299008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⏰ JobExecution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17920" y="3383280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8CAE4"/>
                </a:solidFill>
              </a:rPr>
              <a:t>GET /list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8CAE4"/>
                </a:solidFill>
              </a:rPr>
              <a:t>GET /{id}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8CAE4"/>
                </a:solidFill>
              </a:rPr>
              <a:t>GET /errors/last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8CAE4"/>
                </a:solidFill>
              </a:rPr>
              <a:t>POST /search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8CAE4"/>
                </a:solidFill>
              </a:rPr>
              <a:t>POST /{name}/run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Database Schema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CAE4"/>
                </a:solidFill>
              </a:rPr>
              <a:t>Oracle XE 21c — Tabelle principali e relazioni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292608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05840"/>
            <a:ext cx="292608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0058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T_PRODOTTI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389888"/>
            <a:ext cx="2743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b="1" dirty="0">
                <a:solidFill>
                  <a:srgbClr val="F59E0B"/>
                </a:solidFill>
              </a:rPr>
              <a:t>id (PK)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B3C"/>
                </a:solidFill>
              </a:rPr>
              <a:t>codice (UNIQUE)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B3C"/>
                </a:solidFill>
              </a:rPr>
              <a:t>nome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B3C"/>
                </a:solidFill>
              </a:rPr>
              <a:t>descrizione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B3C"/>
                </a:solidFill>
              </a:rPr>
              <a:t>prezzo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B3C"/>
                </a:solidFill>
              </a:rPr>
              <a:t>data_creazione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83280" y="1005840"/>
            <a:ext cx="292608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005840"/>
            <a:ext cx="292608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0058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T_MAGAZZINI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1389888"/>
            <a:ext cx="2743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b="1" dirty="0">
                <a:solidFill>
                  <a:srgbClr val="F59E0B"/>
                </a:solidFill>
              </a:rPr>
              <a:t>id (PK)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B3C"/>
                </a:solidFill>
              </a:rPr>
              <a:t>nome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B3C"/>
                </a:solidFill>
              </a:rPr>
              <a:t>indirizzo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B3C"/>
                </a:solidFill>
              </a:rPr>
              <a:t>capacita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B3C"/>
                </a:solidFill>
              </a:rPr>
              <a:t>status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B3C"/>
                </a:solidFill>
              </a:rPr>
              <a:t>data_creazione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" y="2834640"/>
            <a:ext cx="292608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" y="2834640"/>
            <a:ext cx="292608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" y="28346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T_FATTURE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3218688"/>
            <a:ext cx="2743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b="1" dirty="0">
                <a:solidFill>
                  <a:srgbClr val="F59E0B"/>
                </a:solidFill>
              </a:rPr>
              <a:t>id (PK)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B3C"/>
                </a:solidFill>
              </a:rPr>
              <a:t>numero (UNIQUE)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B3C"/>
                </a:solidFill>
              </a:rPr>
              <a:t>data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b="1" dirty="0">
                <a:solidFill>
                  <a:srgbClr val="0077B6"/>
                </a:solidFill>
              </a:rPr>
              <a:t>id_prodotto (FK)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B3C"/>
                </a:solidFill>
              </a:rPr>
              <a:t>quantita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B3C"/>
                </a:solidFill>
              </a:rPr>
              <a:t>importo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B3C"/>
                </a:solidFill>
              </a:rPr>
              <a:t>stato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83280" y="2834640"/>
            <a:ext cx="292608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A855F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83280" y="2834640"/>
            <a:ext cx="2926080" cy="34747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28346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T_PRODOTTO_MAGAZZINO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0" y="3218688"/>
            <a:ext cx="2743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b="1" dirty="0">
                <a:solidFill>
                  <a:srgbClr val="F59E0B"/>
                </a:solidFill>
              </a:rPr>
              <a:t>id (PK)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b="1" dirty="0">
                <a:solidFill>
                  <a:srgbClr val="0077B6"/>
                </a:solidFill>
              </a:rPr>
              <a:t>prodotto_id (FK)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b="1" dirty="0">
                <a:solidFill>
                  <a:srgbClr val="0077B6"/>
                </a:solidFill>
              </a:rPr>
              <a:t>magazzino_id (FK)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B3C"/>
                </a:solidFill>
              </a:rPr>
              <a:t>giacenza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B3C"/>
                </a:solidFill>
              </a:rPr>
              <a:t>scorta_minima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B3C"/>
                </a:solidFill>
              </a:rPr>
              <a:t>status_scorta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583680" y="1005840"/>
            <a:ext cx="292608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0" y="1005840"/>
            <a:ext cx="292608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10058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T_JOB_EXECUTION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1389888"/>
            <a:ext cx="2743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b="1" dirty="0">
                <a:solidFill>
                  <a:srgbClr val="F59E0B"/>
                </a:solidFill>
              </a:rPr>
              <a:t>id (PK)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B3C"/>
                </a:solidFill>
              </a:rPr>
              <a:t>job_name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B3C"/>
                </a:solidFill>
              </a:rPr>
              <a:t>data_inizio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B3C"/>
                </a:solidFill>
              </a:rPr>
              <a:t>data_fine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B3C"/>
                </a:solidFill>
              </a:rPr>
              <a:t>status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B3C"/>
                </a:solidFill>
              </a:rPr>
              <a:t>log_messaggio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583680" y="2834640"/>
            <a:ext cx="292608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7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83680" y="2834640"/>
            <a:ext cx="292608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28346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T_FATTURA_WORK_EXEC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75120" y="3218688"/>
            <a:ext cx="2743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b="1" dirty="0">
                <a:solidFill>
                  <a:srgbClr val="F59E0B"/>
                </a:solidFill>
              </a:rPr>
              <a:t>id (PK)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b="1" dirty="0">
                <a:solidFill>
                  <a:srgbClr val="0077B6"/>
                </a:solidFill>
              </a:rPr>
              <a:t>fattura_id (FK)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B3C"/>
                </a:solidFill>
              </a:rPr>
              <a:t>importo_pagato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B3C"/>
                </a:solidFill>
              </a:rPr>
              <a:t>metodo_pagamento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B3C"/>
                </a:solidFill>
              </a:rPr>
              <a:t>stato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Entities &amp; Enums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CAE4"/>
                </a:solidFill>
              </a:rPr>
              <a:t>6 Entity JPA + 7 Enum per gestione stati type-safe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02336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📦 Entities (6 classi JPA)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4023360" cy="548640"/>
          </a:xfrm>
          <a:prstGeom prst="rect">
            <a:avLst/>
          </a:prstGeom>
          <a:solidFill>
            <a:srgbClr val="1A2B3C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25880"/>
            <a:ext cx="45720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3624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Prodotto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5819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0"/>
                </a:solidFill>
              </a:rPr>
              <a:t>@Table(T_PRODOTTI) · id, codice, nome, prezzo · @OneToMany magazzini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1938528"/>
            <a:ext cx="4023360" cy="548640"/>
          </a:xfrm>
          <a:prstGeom prst="rect">
            <a:avLst/>
          </a:prstGeom>
          <a:solidFill>
            <a:srgbClr val="1A2B3C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938528"/>
            <a:ext cx="45720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9751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Magazzino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21945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0"/>
                </a:solidFill>
              </a:rPr>
              <a:t>@Table(T_MAGAZZINI) · nome, indirizzo, capacita · @Enumerated status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2551176"/>
            <a:ext cx="4023360" cy="548640"/>
          </a:xfrm>
          <a:prstGeom prst="rect">
            <a:avLst/>
          </a:prstGeom>
          <a:solidFill>
            <a:srgbClr val="1A2B3C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551176"/>
            <a:ext cx="45720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5877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Fattura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" y="28072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0"/>
                </a:solidFill>
              </a:rPr>
              <a:t>@Table(T_FATTURE) · numero, data, quantita, importo · @ManyToOne prodotto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3163824"/>
            <a:ext cx="4023360" cy="548640"/>
          </a:xfrm>
          <a:prstGeom prst="rect">
            <a:avLst/>
          </a:prstGeom>
          <a:solidFill>
            <a:srgbClr val="1A2B3C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163824"/>
            <a:ext cx="45720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2004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ProdottoMagazzino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" y="34198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0"/>
                </a:solidFill>
              </a:rPr>
              <a:t>@Table(T_PRODOTTO_MAGAZZINO) · join table · giacenza, scortaMinima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776472"/>
            <a:ext cx="4023360" cy="548640"/>
          </a:xfrm>
          <a:prstGeom prst="rect">
            <a:avLst/>
          </a:prstGeom>
          <a:solidFill>
            <a:srgbClr val="1A2B3C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776472"/>
            <a:ext cx="45720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8130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JobExecution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4048" y="40325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0"/>
                </a:solidFill>
              </a:rPr>
              <a:t>@Table(T_JOB_EXECUTION) · jobName, dataInizio, dataFine, status · CLOB log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4389120"/>
            <a:ext cx="4023360" cy="548640"/>
          </a:xfrm>
          <a:prstGeom prst="rect">
            <a:avLst/>
          </a:prstGeom>
          <a:solidFill>
            <a:srgbClr val="1A2B3C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4389120"/>
            <a:ext cx="45720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44256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FatturaWorkExecution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84048" y="46451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0"/>
                </a:solidFill>
              </a:rPr>
              <a:t>@Table(T_FATTURA_WORK_EXECUTION) · importoPagato, metodoPagamento, stato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54880" y="914400"/>
            <a:ext cx="4023360" cy="34747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9144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🔢 Enums (7 file — Type-Safe States)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54880" y="1325880"/>
            <a:ext cx="4023360" cy="457200"/>
          </a:xfrm>
          <a:prstGeom prst="rect">
            <a:avLst/>
          </a:prstGeom>
          <a:solidFill>
            <a:srgbClr val="1A2B3C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1325880"/>
            <a:ext cx="45720" cy="4572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135331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55F7"/>
                </a:solidFill>
              </a:rPr>
              <a:t>SXFatturaStatus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64608" y="15544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0"/>
                </a:solidFill>
              </a:rPr>
              <a:t>BOZZA · CONFERMATA · PAGATA · ANNULLATA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54880" y="1847088"/>
            <a:ext cx="4023360" cy="457200"/>
          </a:xfrm>
          <a:prstGeom prst="rect">
            <a:avLst/>
          </a:prstGeom>
          <a:solidFill>
            <a:srgbClr val="1A2B3C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1847088"/>
            <a:ext cx="45720" cy="4572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18745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55F7"/>
                </a:solidFill>
              </a:rPr>
              <a:t>StockStatusProdotto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864608" y="20756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0"/>
                </a:solidFill>
              </a:rPr>
              <a:t>DISPONIBILE · SCARICO · ESAURITO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754880" y="2368296"/>
            <a:ext cx="4023360" cy="457200"/>
          </a:xfrm>
          <a:prstGeom prst="rect">
            <a:avLst/>
          </a:prstGeom>
          <a:solidFill>
            <a:srgbClr val="1A2B3C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2368296"/>
            <a:ext cx="45720" cy="4572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64608" y="23957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55F7"/>
                </a:solidFill>
              </a:rPr>
              <a:t>StockStatusMagazzino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864608" y="259689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0"/>
                </a:solidFill>
              </a:rPr>
              <a:t>ATTIVO · MANUTENZIONE · CHIUSO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754880" y="2889504"/>
            <a:ext cx="4023360" cy="457200"/>
          </a:xfrm>
          <a:prstGeom prst="rect">
            <a:avLst/>
          </a:prstGeom>
          <a:solidFill>
            <a:srgbClr val="1A2B3C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54880" y="2889504"/>
            <a:ext cx="45720" cy="4572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64608" y="291693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55F7"/>
                </a:solidFill>
              </a:rPr>
              <a:t>StatusJob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864608" y="311810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0"/>
                </a:solidFill>
              </a:rPr>
              <a:t>PENDING · RUNNING · SUCCESS · FAILED · SYSTEM_ERROR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754880" y="3410712"/>
            <a:ext cx="4023360" cy="457200"/>
          </a:xfrm>
          <a:prstGeom prst="rect">
            <a:avLst/>
          </a:prstGeom>
          <a:solidFill>
            <a:srgbClr val="1A2B3C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54880" y="3410712"/>
            <a:ext cx="45720" cy="4572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64608" y="343814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55F7"/>
                </a:solidFill>
              </a:rPr>
              <a:t>StatusJobErrorType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864608" y="363931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0"/>
                </a:solidFill>
              </a:rPr>
              <a:t>VALIDATION_ERROR · DB_ERROR · NETWORK_ERROR · SYSTEM_ERROR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754880" y="3931920"/>
            <a:ext cx="4023360" cy="457200"/>
          </a:xfrm>
          <a:prstGeom prst="rect">
            <a:avLst/>
          </a:prstGeom>
          <a:solidFill>
            <a:srgbClr val="1A2B3C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54880" y="3931920"/>
            <a:ext cx="45720" cy="4572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64608" y="39593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55F7"/>
                </a:solidFill>
              </a:rPr>
              <a:t>ScortaMinPMStatus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4864608" y="41605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0"/>
                </a:solidFill>
              </a:rPr>
              <a:t>SOTTO_SCORTA · ENTRO_NORMA · ECCESSO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754880" y="4453128"/>
            <a:ext cx="4023360" cy="457200"/>
          </a:xfrm>
          <a:prstGeom prst="rect">
            <a:avLst/>
          </a:prstGeom>
          <a:solidFill>
            <a:srgbClr val="1A2B3C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54880" y="4453128"/>
            <a:ext cx="45720" cy="4572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64608" y="448056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55F7"/>
                </a:solidFill>
              </a:rPr>
              <a:t>SXFatturaJobexecution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4864608" y="468172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0"/>
                </a:solidFill>
              </a:rPr>
              <a:t>IN_ATTESA · IN_ELABORAZIONE · PAGATO · FALLITO · RIFIUTATO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Scheduled Jobs &amp; Exception Handling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CAE4"/>
                </a:solidFill>
              </a:rPr>
              <a:t>Automazione background + Gestione centralizzata degli errori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⏰ Scheduled Jobs (2 file)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411480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63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📁 InventoryScheduler.java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810512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810512"/>
            <a:ext cx="4572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8562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@Scheduled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202082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cron="0 0 * * * *"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" y="22128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updateInventoryStatus() — ogni ora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505456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505456"/>
            <a:ext cx="4572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55117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@Scheduled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4048" y="27157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cron="0 0 */6 * * *"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4048" y="29077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checkMinimumStockAlert() — ogni 6 ore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291840"/>
            <a:ext cx="411480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91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📁 FatturaScheduler.java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639312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639312"/>
            <a:ext cx="4572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685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@Scheduled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4048" y="384962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cron="0 0 9 * * MON-FRI"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4048" y="40416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processPaymentReminders() — 9AM feriali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4334256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4334256"/>
            <a:ext cx="4572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437997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@Scheduled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4048" y="45445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cron="0 0 */2 * * *"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4048" y="47365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</a:rPr>
              <a:t>retryFailedPayments() — ogni 2 ore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1005840"/>
            <a:ext cx="411480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⚠️ Exception Handling (5 file)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54880" y="1463040"/>
            <a:ext cx="411480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1463040"/>
            <a:ext cx="45720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15087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GlobalExceptionHandler.java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64608" y="171907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@RestControllerAdvice — centralizzato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@ExceptionHandler per ogni tipo di errore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54880" y="2057400"/>
            <a:ext cx="411480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2057400"/>
            <a:ext cx="45720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21031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ResourceNotFoundException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64608" y="231343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HTTP 404 — Risorsa non trovata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extends RuntimeException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54880" y="2651760"/>
            <a:ext cx="411480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2651760"/>
            <a:ext cx="45720" cy="5303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64608" y="26974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</a:rPr>
              <a:t>JobException (base)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64608" y="29077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Errori job schedulati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754880" y="3246120"/>
            <a:ext cx="411480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54880" y="3246120"/>
            <a:ext cx="45720" cy="5303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64608" y="32918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</a:rPr>
              <a:t>UnknownJobException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64608" y="35021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Job non riconosciuto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754880" y="3840480"/>
            <a:ext cx="411480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54880" y="3840480"/>
            <a:ext cx="45720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64608" y="38862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InvalidFatturaException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864608" y="40965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Fattura non valida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754880" y="4434840"/>
            <a:ext cx="411480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54880" y="4434840"/>
            <a:ext cx="45720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64608" y="44805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InvalidCapacityException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864608" y="469087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Capacità magazzino insufficiente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Docker &amp; Deployment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CAE4"/>
                </a:solidFill>
              </a:rPr>
              <a:t>Containerizzazione con Docker Compose — App + Oracle XE 21c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8CAE4"/>
                </a:solidFill>
              </a:rPr>
              <a:t>🐳 Services in docker-compose.yml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3840480" cy="2011680"/>
          </a:xfrm>
          <a:prstGeom prst="rect">
            <a:avLst/>
          </a:prstGeom>
          <a:solidFill>
            <a:srgbClr val="1A2B3C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384048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🚀 spindox-magazzino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70992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</a:rPr>
              <a:t>▸ Build: Maven JAR → Java 21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95681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</a:rPr>
              <a:t>▸ Porta esposta: 8080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20370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</a:rPr>
              <a:t>▸ Depends on: oracle-db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45059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</a:rPr>
              <a:t>▸ ENV: SPRING_DATASOURCE_URL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69748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</a:rPr>
              <a:t>▸ ENV: DB_USERNAME / DB_PASSWORD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94436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</a:rPr>
              <a:t>▸ Health: GET /home/health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1234440"/>
            <a:ext cx="3840480" cy="2011680"/>
          </a:xfrm>
          <a:prstGeom prst="rect">
            <a:avLst/>
          </a:prstGeom>
          <a:solidFill>
            <a:srgbClr val="1A2B3C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1234440"/>
            <a:ext cx="384048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234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🗄️ oracle-db (XE 21c)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74920" y="170992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9090"/>
                </a:solidFill>
              </a:rPr>
              <a:t>▸ Image: Oracle XE 21c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74920" y="195681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9090"/>
                </a:solidFill>
              </a:rPr>
              <a:t>▸ Porta esposta: 1521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74920" y="220370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9090"/>
                </a:solidFill>
              </a:rPr>
              <a:t>▸ Volume: initdb/ (SQL scripts)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74920" y="245059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9090"/>
                </a:solidFill>
              </a:rPr>
              <a:t>▸ RAM minima: 2GB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74920" y="269748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9090"/>
                </a:solidFill>
              </a:rPr>
              <a:t>▸ Init: 1_init → 2_schema → 3_data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74920" y="294436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9090"/>
                </a:solidFill>
              </a:rPr>
              <a:t>▸ Schema: magazzino / magazzino_pwd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24528" y="2148840"/>
            <a:ext cx="694944" cy="73152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60520" y="2011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8C0"/>
                </a:solidFill>
              </a:rPr>
              <a:t>↔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206240" y="22860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8C0"/>
                </a:solidFill>
              </a:rPr>
              <a:t>JDBC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337560"/>
            <a:ext cx="8412480" cy="1554480"/>
          </a:xfrm>
          <a:prstGeom prst="rect">
            <a:avLst/>
          </a:prstGeom>
          <a:solidFill>
            <a:srgbClr val="0A1520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4015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Quick Start Commands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3657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up --build -d        # Build + Avvia in background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" y="3931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logs -f spindox-magazzino   # Log in tempo reale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8640" y="4206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ps                    # Stato containers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down                  # Stop containers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Flusso Operativo — Request Flow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CAE4"/>
                </a:solidFill>
              </a:rPr>
              <a:t>Scenario: POST /fatture — Creazione nuova fattura con validazione giacenze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15544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48CA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1554480" cy="384048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0584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6072" y="1005840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CLIENT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01752" y="1463040"/>
            <a:ext cx="1417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POST /fatture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JSON payload con numero, data, idProdotto, quantita, importo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783080" y="169164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8CAE4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057400" y="1005840"/>
            <a:ext cx="15544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57400" y="1005840"/>
            <a:ext cx="155448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57400" y="100584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04872" y="1005840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FatturaController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30552" y="1463040"/>
            <a:ext cx="1417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@Valid input validation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@PostMapping → service.create(request)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11880" y="169164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4D8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886200" y="1005840"/>
            <a:ext cx="15544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86200" y="1005840"/>
            <a:ext cx="155448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200" y="100584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233672" y="1005840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FatturaServiceImpl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959352" y="1463040"/>
            <a:ext cx="1417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Business rules: verifica giacenza disponibile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Mapper.toEntity() → @Transactional save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440680" y="169164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C55E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715000" y="1005840"/>
            <a:ext cx="15544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715000" y="1005840"/>
            <a:ext cx="155448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15000" y="100584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62472" y="1005840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FatturaRepository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88152" y="1463040"/>
            <a:ext cx="1417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repository.save(fattura)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Hibernate → INSERT INTO T_FATTURE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269480" y="169164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543800" y="1005840"/>
            <a:ext cx="15544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A855F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543800" y="1005840"/>
            <a:ext cx="1554480" cy="38404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43800" y="100584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891272" y="1005840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Oracle DB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616952" y="1463040"/>
            <a:ext cx="1417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Execute INSERT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Genera ID (sequence) → COMMIT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28600" y="2834640"/>
            <a:ext cx="8686800" cy="45720"/>
          </a:xfrm>
          <a:prstGeom prst="rect">
            <a:avLst/>
          </a:prstGeom>
          <a:solidFill>
            <a:srgbClr val="8FA8C0">
              <a:alpha val="50000"/>
            </a:srgbClr>
          </a:solidFill>
          <a:ln w="12700">
            <a:solidFill>
              <a:srgbClr val="8FA8C0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290779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FA8C0"/>
                </a:solidFill>
              </a:rPr>
              <a:t>◄─────────── Return Path: Entity → Mapper → DTO → ResponseEntity 201 Created ───────────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3291840"/>
            <a:ext cx="8412480" cy="1554480"/>
          </a:xfrm>
          <a:prstGeom prst="rect">
            <a:avLst/>
          </a:prstGeom>
          <a:solidFill>
            <a:srgbClr val="0A1520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3649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HTTP 201 Created — Response JSON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362102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"id": 42, "numero": "FAT001", "data": "2026-03-10", "prodotto": { "id": 1, "codice": "PROD001" }, "quantita": 5,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" y="38679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"importo": 499.95, "stato": "BOZZA", "dataCreazione": "2026-03-10T10:30:00" }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Struttura del Progetto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CAE4"/>
                </a:solidFill>
              </a:rPr>
              <a:t>Package principale: it.spindox.stagelab.magazzino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896112"/>
            <a:ext cx="4114800" cy="4023360"/>
          </a:xfrm>
          <a:prstGeom prst="rect">
            <a:avLst/>
          </a:prstGeom>
          <a:solidFill>
            <a:srgbClr val="0A1520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95097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magazzino/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21208" y="113385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MagazzinoApplication.java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21208" y="131673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controllers/ (6)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21208" y="149961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services/ (12)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21208" y="168249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repositories/ (6)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21208" y="186537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entities/ (13)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58368" y="204825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Entità (6)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58368" y="223113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Enum (7)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21208" y="241401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mappers/ (12)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21208" y="259689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dto/ (18+)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277977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prodotto/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58368" y="296265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magazzino/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58368" y="314553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fattura/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58368" y="332841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prodottomagazzino/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58368" y="351129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jobExecution/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58368" y="369417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FatturaWorkExecution/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21208" y="387705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configurations/ (2)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21208" y="405993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converter/ (1)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21208" y="424281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exceptions/ (5)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21208" y="442569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sjobs/ (2)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54880" y="896112"/>
            <a:ext cx="4114800" cy="4023360"/>
          </a:xfrm>
          <a:prstGeom prst="rect">
            <a:avLst/>
          </a:prstGeom>
          <a:solidFill>
            <a:srgbClr val="1A2B3C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896112"/>
            <a:ext cx="4114800" cy="3657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8961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Riepilogo File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13167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JAVA FILES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955280" y="131673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81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92040" y="15361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Controllers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955280" y="153619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F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92040" y="17556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Services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955280" y="175564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F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92040" y="19751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Repositories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955280" y="197510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F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92040" y="21945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Entities + Enums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955280" y="21945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F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92040" y="24140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Mappers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955280" y="241401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F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92040" y="26334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DTOs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955280" y="263347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F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18+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92040" y="28529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Configurations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955280" y="28529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F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892040" y="30723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Exceptions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955280" y="307238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F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892040" y="32918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Scheduled Jobs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955280" y="329184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F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892040" y="35112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Tests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955280" y="351129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F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892040" y="37307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CONFIG FILES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955280" y="37307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892040" y="39502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SQL Scripts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955280" y="39502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F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892040" y="41696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Docker/Maven/Props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955280" y="416966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F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892040" y="43891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🎯 TOTALE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7955280" y="43891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94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457200"/>
            <a:ext cx="4572000" cy="4572000"/>
          </a:xfrm>
          <a:prstGeom prst="ellipse">
            <a:avLst/>
          </a:prstGeom>
          <a:solidFill>
            <a:srgbClr val="0077B6">
              <a:alpha val="12000"/>
            </a:srgbClr>
          </a:solidFill>
          <a:ln w="12700">
            <a:solidFill>
              <a:srgbClr val="0077B6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4572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</a:rPr>
              <a:t>✅ Production Ready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1097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Magazzino — Sistema di Gestione Inventario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97280" y="1737360"/>
            <a:ext cx="256032" cy="25603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37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173736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Architettura Layered (Controller → Service → Repository)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2194560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194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63040" y="219456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35+ REST API Endpoints documentati con DTOs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97280" y="265176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651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63040" y="265176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Validazione input @Valid + Exception Handling centralizzato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97280" y="3108960"/>
            <a:ext cx="256032" cy="25603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108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63040" y="310896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Job Schedulati con tracciamento esecuzioni (JobExecution)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97280" y="3566160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3566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63040" y="356616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Spring Security configurato per auth/authz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97280" y="4023360"/>
            <a:ext cx="256032" cy="256032"/>
          </a:xfrm>
          <a:prstGeom prst="ellipse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4023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63040" y="402336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Docker Compose: App + Oracle XE 21c containerizzati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1A2B3C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8C0"/>
                </a:solidFill>
              </a:rPr>
              <a:t>Elia Sollazzo  |  Spindox StageLab  |  Java 21 + Spring Boot 4.0.1 + Oracle XE 21c + Docker  |  Marzo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Magazzino - Architettura Sistema</dc:title>
  <dc:subject>PptxGenJS Presentation</dc:subject>
  <dc:creator>Elia Sollazzo</dc:creator>
  <cp:lastModifiedBy>Elia Sollazzo</cp:lastModifiedBy>
  <cp:revision>1</cp:revision>
  <dcterms:created xsi:type="dcterms:W3CDTF">2026-03-10T15:58:41Z</dcterms:created>
  <dcterms:modified xsi:type="dcterms:W3CDTF">2026-03-10T15:58:41Z</dcterms:modified>
</cp:coreProperties>
</file>